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afio 1" id="{08effb6c-8fe1-6a67-1902-d024a15a0c2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o KV-cache cresce linearmente com o contexto e, em textos longos, ocupa mais memória de GPU que o próprio modelo. Com orçamento fixo B, alguém precisa decidir o que descartar. Hoje isso é feito por heurísticas fixas; nossa proposta é aprender a política com RL. Estado: para cada bloco no cache, idade, atenção acumulada, atenção recente, se é sink e posição; mais o progresso global. A atenção do último passo sozinha não é Markov, pois um token pode ficar adormecido e voltar a ser importante; a atenção acumulada aproxima uma estatística suficiente, mas o texto futuro é desconhecido, então formalmente é um POMDP.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Ação discreta de tamanho B+1: qualquer um dos blocos do cache ou o próprio bloco novo pode sair. A escolha pode ser descrita pela função ação-valor Q(s, a), o retorno esperado de despejar o bloco a no estado s. Como as recompensas são negativas, todos os valores são negativos e o melhor é o menos negativo. Como o estado é contínuo, Q precisará ser aproximada por uma rede, o que a disciplina apresenta na aula 4 com o DQN. Despejar um sink ou um bloco muito atendido tem Q muito baixo; despejar um bloco frio tem Q perto de zero. Como extensão, a ação pode ser um par (bloco, operação), com quantização em 4 bits como opção intermediária. As políticas de referência são as heurísticas usadas hoje: janela deslizante, StreamingLLM, H2O e aleatória.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Recompensa densa: a cada token gerado, o negativo da divergência KL entre a distribuição do próximo token com cache completo e com o cache reduzido. No ambiente proxy de treino, que usa matrizes de atenção gravadas, usamos o negativo da massa de atenção que os blocos despejados receberiam, que é barato de calcular. Recompensa terminal: +10 se o modelo ainda consegue responder a pergunta da agulha no palheiro. A restrição de memória é dura, então não precisa de penalidade. Os próximos passos são construir o ambiente proxy, treinar agentes com os algoritmos que a disciplina vai apresentar, a começar pelo DQN, e validar num modelo real pequeno, comparando com as heurísticas.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Titu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GBC063 — Inteligência Artificial  ·  Desafio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766560" y="6355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Ihury Kewin  ·  Willian Casa Grandi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 · Ambiente e estado markoviano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Aprender qual memória um LLM pode esquecer: despejo de KV-cache com orçamento fixo</a:t>
            </a:r>
            <a:endParaRPr lang="en-US" sz="1600" dirty="0"/>
          </a:p>
        </p:txBody>
      </p:sp>
      <p:sp>
        <p:nvSpPr>
          <p:cNvPr id="4" name="amb_card"/>
          <p:cNvSpPr/>
          <p:nvPr/>
        </p:nvSpPr>
        <p:spPr>
          <a:xfrm>
            <a:off x="548640" y="1645920"/>
            <a:ext cx="598932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amb_lbl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O AMBIENTE</a:t>
            </a:r>
            <a:endParaRPr lang="en-US" sz="1300" dirty="0"/>
          </a:p>
        </p:txBody>
      </p:sp>
      <p:sp>
        <p:nvSpPr>
          <p:cNvPr id="6" name="amb_txt"/>
          <p:cNvSpPr txBox="1"/>
          <p:nvPr/>
        </p:nvSpPr>
        <p:spPr>
          <a:xfrm>
            <a:off x="822960" y="214884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Um LLM lê um texto longo token a token e guarda as chaves e valores (K, V) de cada token no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KV-cache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. O cache comporta no máximo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 = 16 blocos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de 16 tokens. Quando chega um bloco novo com o cache cheio, o agente decide qual bloco sai.</a:t>
            </a:r>
            <a:endParaRPr lang="en-US" sz="1500" dirty="0"/>
          </a:p>
        </p:txBody>
      </p:sp>
      <p:sp>
        <p:nvSpPr>
          <p:cNvPr id="7" name="cache1_b0"/>
          <p:cNvSpPr/>
          <p:nvPr/>
        </p:nvSpPr>
        <p:spPr>
          <a:xfrm>
            <a:off x="822960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cache1_b1"/>
          <p:cNvSpPr/>
          <p:nvPr/>
        </p:nvSpPr>
        <p:spPr>
          <a:xfrm>
            <a:off x="1124712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" name="cache1_b2"/>
          <p:cNvSpPr/>
          <p:nvPr/>
        </p:nvSpPr>
        <p:spPr>
          <a:xfrm>
            <a:off x="1426464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cache1_b3"/>
          <p:cNvSpPr/>
          <p:nvPr/>
        </p:nvSpPr>
        <p:spPr>
          <a:xfrm>
            <a:off x="1728216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cache1_b4"/>
          <p:cNvSpPr/>
          <p:nvPr/>
        </p:nvSpPr>
        <p:spPr>
          <a:xfrm>
            <a:off x="2029968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1">
              <a:alpha val="5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cache1_b5"/>
          <p:cNvSpPr/>
          <p:nvPr/>
        </p:nvSpPr>
        <p:spPr>
          <a:xfrm>
            <a:off x="2331720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cache1_b6"/>
          <p:cNvSpPr/>
          <p:nvPr/>
        </p:nvSpPr>
        <p:spPr>
          <a:xfrm>
            <a:off x="2633472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cache1_b7"/>
          <p:cNvSpPr/>
          <p:nvPr/>
        </p:nvSpPr>
        <p:spPr>
          <a:xfrm>
            <a:off x="2935224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cache1_b8"/>
          <p:cNvSpPr/>
          <p:nvPr/>
        </p:nvSpPr>
        <p:spPr>
          <a:xfrm>
            <a:off x="3236976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1">
              <a:alpha val="5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cache1_b9"/>
          <p:cNvSpPr/>
          <p:nvPr/>
        </p:nvSpPr>
        <p:spPr>
          <a:xfrm>
            <a:off x="3538728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cache1_b10"/>
          <p:cNvSpPr/>
          <p:nvPr/>
        </p:nvSpPr>
        <p:spPr>
          <a:xfrm>
            <a:off x="3840480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1">
              <a:alpha val="5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" name="cache1_b11"/>
          <p:cNvSpPr/>
          <p:nvPr/>
        </p:nvSpPr>
        <p:spPr>
          <a:xfrm>
            <a:off x="4142232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cache1_b12"/>
          <p:cNvSpPr/>
          <p:nvPr/>
        </p:nvSpPr>
        <p:spPr>
          <a:xfrm>
            <a:off x="4443984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cache1_b13"/>
          <p:cNvSpPr/>
          <p:nvPr/>
        </p:nvSpPr>
        <p:spPr>
          <a:xfrm>
            <a:off x="4745736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cache1_b14"/>
          <p:cNvSpPr/>
          <p:nvPr/>
        </p:nvSpPr>
        <p:spPr>
          <a:xfrm>
            <a:off x="5047488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cache1_b15"/>
          <p:cNvSpPr/>
          <p:nvPr/>
        </p:nvSpPr>
        <p:spPr>
          <a:xfrm>
            <a:off x="5349240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arr_new"/>
          <p:cNvSpPr/>
          <p:nvPr/>
        </p:nvSpPr>
        <p:spPr>
          <a:xfrm>
            <a:off x="5715000" y="3712464"/>
            <a:ext cx="201168" cy="164592"/>
          </a:xfrm>
          <a:prstGeom prst="righ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lk_new"/>
          <p:cNvSpPr/>
          <p:nvPr/>
        </p:nvSpPr>
        <p:spPr>
          <a:xfrm>
            <a:off x="5989320" y="3611880"/>
            <a:ext cx="256032" cy="320040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25" name="cache_cap"/>
          <p:cNvSpPr txBox="1"/>
          <p:nvPr/>
        </p:nvSpPr>
        <p:spPr>
          <a:xfrm>
            <a:off x="82296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KV-cache (16 blocos)</a:t>
            </a:r>
            <a:endParaRPr lang="en-US" sz="1100" dirty="0"/>
          </a:p>
        </p:txBody>
      </p:sp>
      <p:sp>
        <p:nvSpPr>
          <p:cNvPr id="26" name="new_cap"/>
          <p:cNvSpPr txBox="1"/>
          <p:nvPr/>
        </p:nvSpPr>
        <p:spPr>
          <a:xfrm>
            <a:off x="5760720" y="4041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novo</a:t>
            </a:r>
            <a:endParaRPr lang="en-US" sz="1100" dirty="0"/>
          </a:p>
        </p:txBody>
      </p:sp>
      <p:sp>
        <p:nvSpPr>
          <p:cNvPr id="27" name="leg_d0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leg_t0"/>
          <p:cNvSpPr txBox="1"/>
          <p:nvPr/>
        </p:nvSpPr>
        <p:spPr>
          <a:xfrm>
            <a:off x="1024128" y="44165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sink (início)</a:t>
            </a:r>
            <a:endParaRPr lang="en-US" sz="1100" dirty="0"/>
          </a:p>
        </p:txBody>
      </p:sp>
      <p:sp>
        <p:nvSpPr>
          <p:cNvPr id="29" name="leg_d1"/>
          <p:cNvSpPr/>
          <p:nvPr/>
        </p:nvSpPr>
        <p:spPr>
          <a:xfrm>
            <a:off x="2194560" y="448056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leg_t1"/>
          <p:cNvSpPr txBox="1"/>
          <p:nvPr/>
        </p:nvSpPr>
        <p:spPr>
          <a:xfrm>
            <a:off x="2395728" y="44165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muito atendido</a:t>
            </a:r>
            <a:endParaRPr lang="en-US" sz="1100" dirty="0"/>
          </a:p>
        </p:txBody>
      </p:sp>
      <p:sp>
        <p:nvSpPr>
          <p:cNvPr id="31" name="leg_d2"/>
          <p:cNvSpPr/>
          <p:nvPr/>
        </p:nvSpPr>
        <p:spPr>
          <a:xfrm>
            <a:off x="3566160" y="4480560"/>
            <a:ext cx="146304" cy="1463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leg_t2"/>
          <p:cNvSpPr txBox="1"/>
          <p:nvPr/>
        </p:nvSpPr>
        <p:spPr>
          <a:xfrm>
            <a:off x="3767328" y="44165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pouco atendido</a:t>
            </a:r>
            <a:endParaRPr lang="en-US" sz="1100" dirty="0"/>
          </a:p>
        </p:txBody>
      </p:sp>
      <p:sp>
        <p:nvSpPr>
          <p:cNvPr id="33" name="leg_d3"/>
          <p:cNvSpPr/>
          <p:nvPr/>
        </p:nvSpPr>
        <p:spPr>
          <a:xfrm>
            <a:off x="4937760" y="4480560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leg_t3"/>
          <p:cNvSpPr txBox="1"/>
          <p:nvPr/>
        </p:nvSpPr>
        <p:spPr>
          <a:xfrm>
            <a:off x="5138928" y="441655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recente</a:t>
            </a:r>
            <a:endParaRPr lang="en-US" sz="1100" dirty="0"/>
          </a:p>
        </p:txBody>
      </p:sp>
      <p:sp>
        <p:nvSpPr>
          <p:cNvPr id="35" name="ep_txt"/>
          <p:cNvSpPr txBox="1"/>
          <p:nvPr/>
        </p:nvSpPr>
        <p:spPr>
          <a:xfrm>
            <a:off x="822960" y="48920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Episódio: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um texto de ~1.000–2.000 tokens (64–128 blocos) → uma decisão por bloco novo após o cache encher. Dinâmica: o próprio texto e o padrão de atenção do modelo.</a:t>
            </a:r>
            <a:endParaRPr lang="en-US" sz="1400" dirty="0"/>
          </a:p>
        </p:txBody>
      </p:sp>
      <p:sp>
        <p:nvSpPr>
          <p:cNvPr id="36" name="st_lbl"/>
          <p:cNvSpPr txBox="1"/>
          <p:nvPr/>
        </p:nvSpPr>
        <p:spPr>
          <a:xfrm>
            <a:off x="685800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ESTADO sₜ — O QUE O AGENTE OBSERVA</a:t>
            </a:r>
            <a:endParaRPr lang="en-US" sz="1300" dirty="0"/>
          </a:p>
        </p:txBody>
      </p:sp>
      <p:sp>
        <p:nvSpPr>
          <p:cNvPr id="37" name="ft0_c"/>
          <p:cNvSpPr/>
          <p:nvPr/>
        </p:nvSpPr>
        <p:spPr>
          <a:xfrm>
            <a:off x="6858000" y="21396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ft0_n"/>
          <p:cNvSpPr txBox="1"/>
          <p:nvPr/>
        </p:nvSpPr>
        <p:spPr>
          <a:xfrm>
            <a:off x="685800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39" name="ft0_t"/>
          <p:cNvSpPr txBox="1"/>
          <p:nvPr/>
        </p:nvSpPr>
        <p:spPr>
          <a:xfrm>
            <a:off x="7315200" y="21031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Idade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há quantos passos o bloco entrou no cache</a:t>
            </a:r>
            <a:endParaRPr lang="en-US" sz="1400" dirty="0"/>
          </a:p>
        </p:txBody>
      </p:sp>
      <p:sp>
        <p:nvSpPr>
          <p:cNvPr id="40" name="ft1_c"/>
          <p:cNvSpPr/>
          <p:nvPr/>
        </p:nvSpPr>
        <p:spPr>
          <a:xfrm>
            <a:off x="6858000" y="268833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ft1_n"/>
          <p:cNvSpPr txBox="1"/>
          <p:nvPr/>
        </p:nvSpPr>
        <p:spPr>
          <a:xfrm>
            <a:off x="685800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42" name="ft1_t"/>
          <p:cNvSpPr txBox="1"/>
          <p:nvPr/>
        </p:nvSpPr>
        <p:spPr>
          <a:xfrm>
            <a:off x="7315200" y="26517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Atenção acumulada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média da atenção recebida desde que entrou</a:t>
            </a:r>
            <a:endParaRPr lang="en-US" sz="1400" dirty="0"/>
          </a:p>
        </p:txBody>
      </p:sp>
      <p:sp>
        <p:nvSpPr>
          <p:cNvPr id="43" name="ft2_c"/>
          <p:cNvSpPr/>
          <p:nvPr/>
        </p:nvSpPr>
        <p:spPr>
          <a:xfrm>
            <a:off x="6858000" y="32369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ft2_n"/>
          <p:cNvSpPr txBox="1"/>
          <p:nvPr/>
        </p:nvSpPr>
        <p:spPr>
          <a:xfrm>
            <a:off x="685800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45" name="ft2_t"/>
          <p:cNvSpPr txBox="1"/>
          <p:nvPr/>
        </p:nvSpPr>
        <p:spPr>
          <a:xfrm>
            <a:off x="7315200" y="3200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Atenção recente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média nos últimos k tokens (tendência)</a:t>
            </a:r>
            <a:endParaRPr lang="en-US" sz="1400" dirty="0"/>
          </a:p>
        </p:txBody>
      </p:sp>
      <p:sp>
        <p:nvSpPr>
          <p:cNvPr id="46" name="ft3_c"/>
          <p:cNvSpPr/>
          <p:nvPr/>
        </p:nvSpPr>
        <p:spPr>
          <a:xfrm>
            <a:off x="6858000" y="378561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" name="ft3_n"/>
          <p:cNvSpPr txBox="1"/>
          <p:nvPr/>
        </p:nvSpPr>
        <p:spPr>
          <a:xfrm>
            <a:off x="685800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48" name="ft3_t"/>
          <p:cNvSpPr txBox="1"/>
          <p:nvPr/>
        </p:nvSpPr>
        <p:spPr>
          <a:xfrm>
            <a:off x="7315200" y="3749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Sink / posição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 é bloco inicial e posição relativa no texto</a:t>
            </a:r>
            <a:endParaRPr lang="en-US" sz="1400" dirty="0"/>
          </a:p>
        </p:txBody>
      </p:sp>
      <p:sp>
        <p:nvSpPr>
          <p:cNvPr id="49" name="ft4_c"/>
          <p:cNvSpPr/>
          <p:nvPr/>
        </p:nvSpPr>
        <p:spPr>
          <a:xfrm>
            <a:off x="6858000" y="433425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ft4_n"/>
          <p:cNvSpPr txBox="1"/>
          <p:nvPr/>
        </p:nvSpPr>
        <p:spPr>
          <a:xfrm>
            <a:off x="6858000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51" name="ft4_t"/>
          <p:cNvSpPr txBox="1"/>
          <p:nvPr/>
        </p:nvSpPr>
        <p:spPr>
          <a:xfrm>
            <a:off x="7315200" y="42976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Global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progresso no texto (t / T)</a:t>
            </a:r>
            <a:endParaRPr lang="en-US" sz="1400" dirty="0"/>
          </a:p>
        </p:txBody>
      </p:sp>
      <p:sp>
        <p:nvSpPr>
          <p:cNvPr id="52" name="mk_card"/>
          <p:cNvSpPr/>
          <p:nvPr/>
        </p:nvSpPr>
        <p:spPr>
          <a:xfrm>
            <a:off x="6858000" y="4937760"/>
            <a:ext cx="4800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mk_txt"/>
          <p:cNvSpPr txBox="1"/>
          <p:nvPr/>
        </p:nvSpPr>
        <p:spPr>
          <a:xfrm>
            <a:off x="7040880" y="50292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É Markov? Quase.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atenção acumulada resume a história (estatística suficiente). Mas a importância futura de um bloco depende do texto que ainda não chegou → na prática, um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POMDP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2 · Ações do agente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cada bloco novo com o cache cheio, escolher quem sai: aₜ ∈ {0, 1, …, B}</a:t>
            </a:r>
            <a:endParaRPr lang="en-US" sz="1600" dirty="0"/>
          </a:p>
        </p:txBody>
      </p:sp>
      <p:sp>
        <p:nvSpPr>
          <p:cNvPr id="4" name="stp0"/>
          <p:cNvSpPr/>
          <p:nvPr/>
        </p:nvSpPr>
        <p:spPr>
          <a:xfrm>
            <a:off x="548640" y="1645920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tp0n_c"/>
          <p:cNvSpPr/>
          <p:nvPr/>
        </p:nvSpPr>
        <p:spPr>
          <a:xfrm>
            <a:off x="777240" y="18288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p0n_n"/>
          <p:cNvSpPr txBox="1"/>
          <p:nvPr/>
        </p:nvSpPr>
        <p:spPr>
          <a:xfrm>
            <a:off x="77724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tp0h"/>
          <p:cNvSpPr txBox="1"/>
          <p:nvPr/>
        </p:nvSpPr>
        <p:spPr>
          <a:xfrm>
            <a:off x="1234440" y="1810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Cache cheio</a:t>
            </a:r>
            <a:endParaRPr lang="en-US" sz="1700" dirty="0"/>
          </a:p>
        </p:txBody>
      </p:sp>
      <p:sp>
        <p:nvSpPr>
          <p:cNvPr id="8" name="stp0d"/>
          <p:cNvSpPr txBox="1"/>
          <p:nvPr/>
        </p:nvSpPr>
        <p:spPr>
          <a:xfrm>
            <a:off x="777240" y="2286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Chega o bloco B+1. Há B+1 candidatos: os 16 do cache e o próprio bloco novo.</a:t>
            </a:r>
            <a:endParaRPr lang="en-US" sz="1400" dirty="0"/>
          </a:p>
        </p:txBody>
      </p:sp>
      <p:sp>
        <p:nvSpPr>
          <p:cNvPr id="9" name="stp0a"/>
          <p:cNvSpPr/>
          <p:nvPr/>
        </p:nvSpPr>
        <p:spPr>
          <a:xfrm>
            <a:off x="4041648" y="2212848"/>
            <a:ext cx="237744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p1"/>
          <p:cNvSpPr/>
          <p:nvPr/>
        </p:nvSpPr>
        <p:spPr>
          <a:xfrm>
            <a:off x="4343400" y="1645920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tp1n_c"/>
          <p:cNvSpPr/>
          <p:nvPr/>
        </p:nvSpPr>
        <p:spPr>
          <a:xfrm>
            <a:off x="4572000" y="18288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p1n_n"/>
          <p:cNvSpPr txBox="1"/>
          <p:nvPr/>
        </p:nvSpPr>
        <p:spPr>
          <a:xfrm>
            <a:off x="457200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tp1h"/>
          <p:cNvSpPr txBox="1"/>
          <p:nvPr/>
        </p:nvSpPr>
        <p:spPr>
          <a:xfrm>
            <a:off x="5029200" y="1810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Avalia cada opção</a:t>
            </a:r>
            <a:endParaRPr lang="en-US" sz="1700" dirty="0"/>
          </a:p>
        </p:txBody>
      </p:sp>
      <p:sp>
        <p:nvSpPr>
          <p:cNvPr id="14" name="stp1d"/>
          <p:cNvSpPr txBox="1"/>
          <p:nvPr/>
        </p:nvSpPr>
        <p:spPr>
          <a:xfrm>
            <a:off x="4572000" y="2286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Função ação-valor Q(s, a): retorno esperado de despejar o candidato a no estado s.</a:t>
            </a:r>
            <a:endParaRPr lang="en-US" sz="1400" dirty="0"/>
          </a:p>
        </p:txBody>
      </p:sp>
      <p:sp>
        <p:nvSpPr>
          <p:cNvPr id="15" name="stp1a"/>
          <p:cNvSpPr/>
          <p:nvPr/>
        </p:nvSpPr>
        <p:spPr>
          <a:xfrm>
            <a:off x="7836408" y="2212848"/>
            <a:ext cx="237744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p2"/>
          <p:cNvSpPr/>
          <p:nvPr/>
        </p:nvSpPr>
        <p:spPr>
          <a:xfrm>
            <a:off x="8138160" y="1645920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stp2n_c"/>
          <p:cNvSpPr/>
          <p:nvPr/>
        </p:nvSpPr>
        <p:spPr>
          <a:xfrm>
            <a:off x="8366760" y="18288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tp2n_n"/>
          <p:cNvSpPr txBox="1"/>
          <p:nvPr/>
        </p:nvSpPr>
        <p:spPr>
          <a:xfrm>
            <a:off x="836676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tp2h"/>
          <p:cNvSpPr txBox="1"/>
          <p:nvPr/>
        </p:nvSpPr>
        <p:spPr>
          <a:xfrm>
            <a:off x="8823960" y="1810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Despeja o de maior Q</a:t>
            </a:r>
            <a:endParaRPr lang="en-US" sz="1700" dirty="0"/>
          </a:p>
        </p:txBody>
      </p:sp>
      <p:sp>
        <p:nvSpPr>
          <p:cNvPr id="20" name="stp2d"/>
          <p:cNvSpPr txBox="1"/>
          <p:nvPr/>
        </p:nvSpPr>
        <p:spPr>
          <a:xfrm>
            <a:off x="8366760" y="2286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Ação = argmaxₐ Q(s, a); o bloco escolhido sai e seus K, V somem para sempre.</a:t>
            </a:r>
            <a:endParaRPr lang="en-US" sz="1400" dirty="0"/>
          </a:p>
        </p:txBody>
      </p:sp>
      <p:sp>
        <p:nvSpPr>
          <p:cNvPr id="21" name="ex_lbl"/>
          <p:cNvSpPr txBox="1"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bg2"/>
                </a:solidFill>
              </a:rPr>
              <a:t>EXEMPLO: Q(s, a) DE DESPEJAR CADA UM DOS 17 CANDIDATOS</a:t>
            </a:r>
            <a:endParaRPr lang="en-US" sz="1300" dirty="0"/>
          </a:p>
        </p:txBody>
      </p:sp>
      <p:sp>
        <p:nvSpPr>
          <p:cNvPr id="22" name="cache2_b0"/>
          <p:cNvSpPr/>
          <p:nvPr/>
        </p:nvSpPr>
        <p:spPr>
          <a:xfrm>
            <a:off x="54864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cache2_s0"/>
          <p:cNvSpPr txBox="1"/>
          <p:nvPr/>
        </p:nvSpPr>
        <p:spPr>
          <a:xfrm>
            <a:off x="50292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−9,7</a:t>
            </a:r>
            <a:endParaRPr lang="en-US" sz="1100" dirty="0"/>
          </a:p>
        </p:txBody>
      </p:sp>
      <p:sp>
        <p:nvSpPr>
          <p:cNvPr id="24" name="cache2_b1"/>
          <p:cNvSpPr/>
          <p:nvPr/>
        </p:nvSpPr>
        <p:spPr>
          <a:xfrm>
            <a:off x="118872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cache2_s1"/>
          <p:cNvSpPr txBox="1"/>
          <p:nvPr/>
        </p:nvSpPr>
        <p:spPr>
          <a:xfrm>
            <a:off x="114300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−1,2</a:t>
            </a:r>
            <a:endParaRPr lang="en-US" sz="1100" dirty="0"/>
          </a:p>
        </p:txBody>
      </p:sp>
      <p:sp>
        <p:nvSpPr>
          <p:cNvPr id="26" name="cache2_b2"/>
          <p:cNvSpPr/>
          <p:nvPr/>
        </p:nvSpPr>
        <p:spPr>
          <a:xfrm>
            <a:off x="182880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7" name="cache2_s2"/>
          <p:cNvSpPr txBox="1"/>
          <p:nvPr/>
        </p:nvSpPr>
        <p:spPr>
          <a:xfrm>
            <a:off x="178308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−6,8</a:t>
            </a:r>
            <a:endParaRPr lang="en-US" sz="1100" dirty="0"/>
          </a:p>
        </p:txBody>
      </p:sp>
      <p:sp>
        <p:nvSpPr>
          <p:cNvPr id="28" name="cache2_b3"/>
          <p:cNvSpPr/>
          <p:nvPr/>
        </p:nvSpPr>
        <p:spPr>
          <a:xfrm>
            <a:off x="246888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9" name="cache2_s3"/>
          <p:cNvSpPr txBox="1"/>
          <p:nvPr/>
        </p:nvSpPr>
        <p:spPr>
          <a:xfrm>
            <a:off x="242316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−0,9</a:t>
            </a:r>
            <a:endParaRPr lang="en-US" sz="1100" dirty="0"/>
          </a:p>
        </p:txBody>
      </p:sp>
      <p:sp>
        <p:nvSpPr>
          <p:cNvPr id="30" name="cache2_b4"/>
          <p:cNvSpPr/>
          <p:nvPr/>
        </p:nvSpPr>
        <p:spPr>
          <a:xfrm>
            <a:off x="310896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1">
              <a:alpha val="5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cache2_s4"/>
          <p:cNvSpPr txBox="1"/>
          <p:nvPr/>
        </p:nvSpPr>
        <p:spPr>
          <a:xfrm>
            <a:off x="306324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−3,5</a:t>
            </a:r>
            <a:endParaRPr lang="en-US" sz="1100" dirty="0"/>
          </a:p>
        </p:txBody>
      </p:sp>
      <p:sp>
        <p:nvSpPr>
          <p:cNvPr id="32" name="cache2_b5"/>
          <p:cNvSpPr/>
          <p:nvPr/>
        </p:nvSpPr>
        <p:spPr>
          <a:xfrm>
            <a:off x="374904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3" name="cache2_s5"/>
          <p:cNvSpPr txBox="1"/>
          <p:nvPr/>
        </p:nvSpPr>
        <p:spPr>
          <a:xfrm>
            <a:off x="370332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−0,4</a:t>
            </a:r>
            <a:endParaRPr lang="en-US" sz="1100" dirty="0"/>
          </a:p>
        </p:txBody>
      </p:sp>
      <p:sp>
        <p:nvSpPr>
          <p:cNvPr id="34" name="cache2_b6"/>
          <p:cNvSpPr/>
          <p:nvPr/>
        </p:nvSpPr>
        <p:spPr>
          <a:xfrm>
            <a:off x="438912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" name="cache2_s6"/>
          <p:cNvSpPr txBox="1"/>
          <p:nvPr/>
        </p:nvSpPr>
        <p:spPr>
          <a:xfrm>
            <a:off x="434340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−1,1</a:t>
            </a:r>
            <a:endParaRPr lang="en-US" sz="1100" dirty="0"/>
          </a:p>
        </p:txBody>
      </p:sp>
      <p:sp>
        <p:nvSpPr>
          <p:cNvPr id="36" name="cache2_b7"/>
          <p:cNvSpPr/>
          <p:nvPr/>
        </p:nvSpPr>
        <p:spPr>
          <a:xfrm>
            <a:off x="502920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7" name="cache2_s7"/>
          <p:cNvSpPr txBox="1"/>
          <p:nvPr/>
        </p:nvSpPr>
        <p:spPr>
          <a:xfrm>
            <a:off x="498348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−7,2</a:t>
            </a:r>
            <a:endParaRPr lang="en-US" sz="1100" dirty="0"/>
          </a:p>
        </p:txBody>
      </p:sp>
      <p:sp>
        <p:nvSpPr>
          <p:cNvPr id="38" name="cache2_b8"/>
          <p:cNvSpPr/>
          <p:nvPr/>
        </p:nvSpPr>
        <p:spPr>
          <a:xfrm>
            <a:off x="566928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1">
              <a:alpha val="5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9" name="cache2_s8"/>
          <p:cNvSpPr txBox="1"/>
          <p:nvPr/>
        </p:nvSpPr>
        <p:spPr>
          <a:xfrm>
            <a:off x="562356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−3,1</a:t>
            </a:r>
            <a:endParaRPr lang="en-US" sz="1100" dirty="0"/>
          </a:p>
        </p:txBody>
      </p:sp>
      <p:sp>
        <p:nvSpPr>
          <p:cNvPr id="40" name="cache2_b9"/>
          <p:cNvSpPr/>
          <p:nvPr/>
        </p:nvSpPr>
        <p:spPr>
          <a:xfrm>
            <a:off x="630936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1" name="cache2_s9"/>
          <p:cNvSpPr txBox="1"/>
          <p:nvPr/>
        </p:nvSpPr>
        <p:spPr>
          <a:xfrm>
            <a:off x="626364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−0,8</a:t>
            </a:r>
            <a:endParaRPr lang="en-US" sz="1100" dirty="0"/>
          </a:p>
        </p:txBody>
      </p:sp>
      <p:sp>
        <p:nvSpPr>
          <p:cNvPr id="42" name="cache2_b10"/>
          <p:cNvSpPr/>
          <p:nvPr/>
        </p:nvSpPr>
        <p:spPr>
          <a:xfrm>
            <a:off x="694944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1">
              <a:alpha val="55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cache2_s10"/>
          <p:cNvSpPr txBox="1"/>
          <p:nvPr/>
        </p:nvSpPr>
        <p:spPr>
          <a:xfrm>
            <a:off x="690372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−3,6</a:t>
            </a:r>
            <a:endParaRPr lang="en-US" sz="1100" dirty="0"/>
          </a:p>
        </p:txBody>
      </p:sp>
      <p:sp>
        <p:nvSpPr>
          <p:cNvPr id="44" name="cache2_b11"/>
          <p:cNvSpPr/>
          <p:nvPr/>
        </p:nvSpPr>
        <p:spPr>
          <a:xfrm>
            <a:off x="758952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6">
              <a:alpha val="70000"/>
            </a:schemeClr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5" name="cache2_s11"/>
          <p:cNvSpPr txBox="1"/>
          <p:nvPr/>
        </p:nvSpPr>
        <p:spPr>
          <a:xfrm>
            <a:off x="754380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−1,4</a:t>
            </a:r>
            <a:endParaRPr lang="en-US" sz="1100" dirty="0"/>
          </a:p>
        </p:txBody>
      </p:sp>
      <p:sp>
        <p:nvSpPr>
          <p:cNvPr id="46" name="cache2_b12"/>
          <p:cNvSpPr/>
          <p:nvPr/>
        </p:nvSpPr>
        <p:spPr>
          <a:xfrm>
            <a:off x="822960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cache2_s12"/>
          <p:cNvSpPr txBox="1"/>
          <p:nvPr/>
        </p:nvSpPr>
        <p:spPr>
          <a:xfrm>
            <a:off x="818388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−4,9</a:t>
            </a:r>
            <a:endParaRPr lang="en-US" sz="1100" dirty="0"/>
          </a:p>
        </p:txBody>
      </p:sp>
      <p:sp>
        <p:nvSpPr>
          <p:cNvPr id="48" name="cache2_b13"/>
          <p:cNvSpPr/>
          <p:nvPr/>
        </p:nvSpPr>
        <p:spPr>
          <a:xfrm>
            <a:off x="886968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cache2_s13"/>
          <p:cNvSpPr txBox="1"/>
          <p:nvPr/>
        </p:nvSpPr>
        <p:spPr>
          <a:xfrm>
            <a:off x="882396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−5,3</a:t>
            </a:r>
            <a:endParaRPr lang="en-US" sz="1100" dirty="0"/>
          </a:p>
        </p:txBody>
      </p:sp>
      <p:sp>
        <p:nvSpPr>
          <p:cNvPr id="50" name="cache2_b14"/>
          <p:cNvSpPr/>
          <p:nvPr/>
        </p:nvSpPr>
        <p:spPr>
          <a:xfrm>
            <a:off x="950976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cache2_s14"/>
          <p:cNvSpPr txBox="1"/>
          <p:nvPr/>
        </p:nvSpPr>
        <p:spPr>
          <a:xfrm>
            <a:off x="946404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−5,8</a:t>
            </a:r>
            <a:endParaRPr lang="en-US" sz="1100" dirty="0"/>
          </a:p>
        </p:txBody>
      </p:sp>
      <p:sp>
        <p:nvSpPr>
          <p:cNvPr id="52" name="cache2_b15"/>
          <p:cNvSpPr/>
          <p:nvPr/>
        </p:nvSpPr>
        <p:spPr>
          <a:xfrm>
            <a:off x="1014984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3" name="cache2_s15"/>
          <p:cNvSpPr txBox="1"/>
          <p:nvPr/>
        </p:nvSpPr>
        <p:spPr>
          <a:xfrm>
            <a:off x="1010412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−6,1</a:t>
            </a:r>
            <a:endParaRPr lang="en-US" sz="1100" dirty="0"/>
          </a:p>
        </p:txBody>
      </p:sp>
      <p:sp>
        <p:nvSpPr>
          <p:cNvPr id="54" name="cache2_b16"/>
          <p:cNvSpPr/>
          <p:nvPr/>
        </p:nvSpPr>
        <p:spPr>
          <a:xfrm>
            <a:off x="10789920" y="3886200"/>
            <a:ext cx="457200" cy="5715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5" name="cache2_s16"/>
          <p:cNvSpPr txBox="1"/>
          <p:nvPr/>
        </p:nvSpPr>
        <p:spPr>
          <a:xfrm>
            <a:off x="10744200" y="45034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−6,5</a:t>
            </a:r>
            <a:endParaRPr lang="en-US" sz="1100" dirty="0"/>
          </a:p>
        </p:txBody>
      </p:sp>
      <p:sp>
        <p:nvSpPr>
          <p:cNvPr id="56" name="out_cap"/>
          <p:cNvSpPr txBox="1"/>
          <p:nvPr/>
        </p:nvSpPr>
        <p:spPr>
          <a:xfrm>
            <a:off x="3383280" y="4754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✕ maior Q: sai</a:t>
            </a:r>
            <a:endParaRPr lang="en-US" sz="1100" dirty="0"/>
          </a:p>
        </p:txBody>
      </p:sp>
      <p:sp>
        <p:nvSpPr>
          <p:cNvPr id="57" name="ext_card"/>
          <p:cNvSpPr/>
          <p:nvPr/>
        </p:nvSpPr>
        <p:spPr>
          <a:xfrm>
            <a:off x="548640" y="516636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8" name="ext_txt"/>
          <p:cNvSpPr txBox="1"/>
          <p:nvPr/>
        </p:nvSpPr>
        <p:spPr>
          <a:xfrm>
            <a:off x="731520" y="5230368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Extensão: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aₜ = (bloco, operação), com operação ∈ {despejar, quantizar para 4 bits}: libera menos memória, mas perde menos informação.</a:t>
            </a:r>
            <a:endParaRPr lang="en-US" sz="1400" dirty="0"/>
          </a:p>
        </p:txBody>
      </p:sp>
      <p:sp>
        <p:nvSpPr>
          <p:cNvPr id="59" name="base_card"/>
          <p:cNvSpPr/>
          <p:nvPr/>
        </p:nvSpPr>
        <p:spPr>
          <a:xfrm>
            <a:off x="6217920" y="516636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0" name="base_txt"/>
          <p:cNvSpPr txBox="1"/>
          <p:nvPr/>
        </p:nvSpPr>
        <p:spPr>
          <a:xfrm>
            <a:off x="6400800" y="5230368"/>
            <a:ext cx="5074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Baselines a vencer: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janela deslizante (sai o mais antigo), StreamingLLM (sinks + recentes), H2O (sai o menos atendido) e aleatório.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 · Recompensas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Punir o quanto o modelo “se desvia” por ter esquecido, e premiar lembrar o que importa</a:t>
            </a:r>
            <a:endParaRPr lang="en-US" sz="1600" dirty="0"/>
          </a:p>
        </p:txBody>
      </p:sp>
      <p:sp>
        <p:nvSpPr>
          <p:cNvPr id="4" name="rd_card"/>
          <p:cNvSpPr/>
          <p:nvPr/>
        </p:nvSpPr>
        <p:spPr>
          <a:xfrm>
            <a:off x="548640" y="1645920"/>
            <a:ext cx="644652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rd_lbl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1"/>
                </a:solidFill>
              </a:rPr>
              <a:t>DENSA — A CADA TOKEN</a:t>
            </a:r>
            <a:endParaRPr lang="en-US" sz="1300" dirty="0"/>
          </a:p>
        </p:txBody>
      </p:sp>
      <p:sp>
        <p:nvSpPr>
          <p:cNvPr id="6" name="rd_f"/>
          <p:cNvSpPr txBox="1"/>
          <p:nvPr/>
        </p:nvSpPr>
        <p:spPr>
          <a:xfrm>
            <a:off x="822960" y="2240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rₜ = − KL( p_cheio ‖ p_reduzido )</a:t>
            </a:r>
            <a:endParaRPr lang="en-US" sz="1700" dirty="0"/>
          </a:p>
        </p:txBody>
      </p:sp>
      <p:sp>
        <p:nvSpPr>
          <p:cNvPr id="7" name="rd_d"/>
          <p:cNvSpPr txBox="1"/>
          <p:nvPr/>
        </p:nvSpPr>
        <p:spPr>
          <a:xfrm>
            <a:off x="822960" y="2834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Quanto a distribuição do próximo token, dado o texto até t, com o cache reduzido se afasta da distribuição com o cache completo. Zero se o despejo não mudou nada.</a:t>
            </a:r>
            <a:endParaRPr lang="en-US" sz="1400" dirty="0"/>
          </a:p>
        </p:txBody>
      </p:sp>
      <p:sp>
        <p:nvSpPr>
          <p:cNvPr id="8" name="rd_p"/>
          <p:cNvSpPr txBox="1"/>
          <p:nvPr/>
        </p:nvSpPr>
        <p:spPr>
          <a:xfrm>
            <a:off x="822960" y="3657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 ambiente de treino (proxy):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rₜ = − massa de atenção que os blocos já despejados receberiam nos próximos tokens.</a:t>
            </a:r>
            <a:endParaRPr lang="en-US" sz="1400" dirty="0"/>
          </a:p>
        </p:txBody>
      </p:sp>
      <p:sp>
        <p:nvSpPr>
          <p:cNvPr id="9" name="rt_card"/>
          <p:cNvSpPr/>
          <p:nvPr/>
        </p:nvSpPr>
        <p:spPr>
          <a:xfrm>
            <a:off x="7223760" y="1645920"/>
            <a:ext cx="44348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rt_lbl"/>
          <p:cNvSpPr txBox="1"/>
          <p:nvPr/>
        </p:nvSpPr>
        <p:spPr>
          <a:xfrm>
            <a:off x="749808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2"/>
                </a:solidFill>
              </a:rPr>
              <a:t>TERMINAL — FIM DO TEXTO</a:t>
            </a:r>
            <a:endParaRPr lang="en-US" sz="1300" dirty="0"/>
          </a:p>
        </p:txBody>
      </p:sp>
      <p:sp>
        <p:nvSpPr>
          <p:cNvPr id="11" name="rt_big"/>
          <p:cNvSpPr txBox="1"/>
          <p:nvPr/>
        </p:nvSpPr>
        <p:spPr>
          <a:xfrm>
            <a:off x="7498080" y="21945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+10</a:t>
            </a:r>
            <a:endParaRPr lang="en-US" sz="6400" dirty="0"/>
          </a:p>
        </p:txBody>
      </p:sp>
      <p:sp>
        <p:nvSpPr>
          <p:cNvPr id="12" name="rt_d"/>
          <p:cNvSpPr txBox="1"/>
          <p:nvPr/>
        </p:nvSpPr>
        <p:spPr>
          <a:xfrm>
            <a:off x="7498080" y="32461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 o modelo recupera a “agulha”: uma senha escondida no início do texto e perguntada no final. 0 caso contrário.</a:t>
            </a:r>
            <a:endParaRPr lang="en-US" sz="1400" dirty="0"/>
          </a:p>
        </p:txBody>
      </p:sp>
      <p:sp>
        <p:nvSpPr>
          <p:cNvPr id="13" name="bi0"/>
          <p:cNvSpPr/>
          <p:nvPr/>
        </p:nvSpPr>
        <p:spPr>
          <a:xfrm>
            <a:off x="548640" y="48920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bi0h"/>
          <p:cNvSpPr txBox="1"/>
          <p:nvPr/>
        </p:nvSpPr>
        <p:spPr>
          <a:xfrm>
            <a:off x="7315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Restrição dura</a:t>
            </a:r>
            <a:endParaRPr lang="en-US" sz="1500" dirty="0"/>
          </a:p>
        </p:txBody>
      </p:sp>
      <p:sp>
        <p:nvSpPr>
          <p:cNvPr id="15" name="bi0d"/>
          <p:cNvSpPr txBox="1"/>
          <p:nvPr/>
        </p:nvSpPr>
        <p:spPr>
          <a:xfrm>
            <a:off x="731520" y="5321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 cache nunca passa de B blocos, então não há penalidade de estouro.</a:t>
            </a:r>
            <a:endParaRPr lang="en-US" sz="1400" dirty="0"/>
          </a:p>
        </p:txBody>
      </p:sp>
      <p:sp>
        <p:nvSpPr>
          <p:cNvPr id="16" name="bi1"/>
          <p:cNvSpPr/>
          <p:nvPr/>
        </p:nvSpPr>
        <p:spPr>
          <a:xfrm>
            <a:off x="4297680" y="48920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bi1h"/>
          <p:cNvSpPr txBox="1"/>
          <p:nvPr/>
        </p:nvSpPr>
        <p:spPr>
          <a:xfrm>
            <a:off x="448056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Objetivo</a:t>
            </a:r>
            <a:endParaRPr lang="en-US" sz="1500" dirty="0"/>
          </a:p>
        </p:txBody>
      </p:sp>
      <p:sp>
        <p:nvSpPr>
          <p:cNvPr id="18" name="bi1d"/>
          <p:cNvSpPr txBox="1"/>
          <p:nvPr/>
        </p:nvSpPr>
        <p:spPr>
          <a:xfrm>
            <a:off x="4480560" y="5321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maximizar G = Σ γᵗ rₜ + R_final, com γ = 0,99.</a:t>
            </a:r>
            <a:endParaRPr lang="en-US" sz="1400" dirty="0"/>
          </a:p>
        </p:txBody>
      </p:sp>
      <p:sp>
        <p:nvSpPr>
          <p:cNvPr id="19" name="bi2"/>
          <p:cNvSpPr/>
          <p:nvPr/>
        </p:nvSpPr>
        <p:spPr>
          <a:xfrm>
            <a:off x="8046720" y="48920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i2h"/>
          <p:cNvSpPr txBox="1"/>
          <p:nvPr/>
        </p:nvSpPr>
        <p:spPr>
          <a:xfrm>
            <a:off x="822960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Próximos passos</a:t>
            </a:r>
            <a:endParaRPr lang="en-US" sz="1500" dirty="0"/>
          </a:p>
        </p:txBody>
      </p:sp>
      <p:sp>
        <p:nvSpPr>
          <p:cNvPr id="21" name="bi2d"/>
          <p:cNvSpPr txBox="1"/>
          <p:nvPr/>
        </p:nvSpPr>
        <p:spPr>
          <a:xfrm>
            <a:off x="8229600" y="53218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ambiente proxy e agentes com o que veremos na disciplina; teste no GPT-2.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V Cache">
  <a:themeElements>
    <a:clrScheme name="KV Cache">
      <a:dk1>
        <a:srgbClr val="12161D"/>
      </a:dk1>
      <a:lt1>
        <a:srgbClr val="F1F5F9"/>
      </a:lt1>
      <a:dk2>
        <a:srgbClr val="1D2430"/>
      </a:dk2>
      <a:lt2>
        <a:srgbClr val="9AA7B8"/>
      </a:lt2>
      <a:accent1>
        <a:srgbClr val="F5A524"/>
      </a:accent1>
      <a:accent2>
        <a:srgbClr val="3CC8B4"/>
      </a:accent2>
      <a:accent3>
        <a:srgbClr val="E5484D"/>
      </a:accent3>
      <a:accent4>
        <a:srgbClr val="8B9CF9"/>
      </a:accent4>
      <a:accent5>
        <a:srgbClr val="2A3342"/>
      </a:accent5>
      <a:accent6>
        <a:srgbClr val="5B6778"/>
      </a:accent6>
      <a:hlink>
        <a:srgbClr val="3CC8B4"/>
      </a:hlink>
      <a:folHlink>
        <a:srgbClr val="8B9CF9"/>
      </a:folHlink>
    </a:clrScheme>
    <a:fontScheme name="KV Cach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GBC063 - Desafio 1 - Despejo de KV-cache com RL</dc:title>
  <dc:subject>GBC063 - Inteligência Artificial - UFU</dc:subject>
  <dc:creator>Ihury Kewin; Willian Casa Grandi</dc:creator>
  <cp:lastModifiedBy>Ihury Kewin; Willian Casa Grandi</cp:lastModifiedBy>
  <cp:revision>1</cp:revision>
  <dcterms:created xsi:type="dcterms:W3CDTF">2026-10-28T19:18:38Z</dcterms:created>
  <dcterms:modified xsi:type="dcterms:W3CDTF">2026-10-28T19:18:38Z</dcterms:modified>
</cp:coreProperties>
</file>